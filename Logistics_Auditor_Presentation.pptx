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"Last Mile" Logistics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D4AA"/>
                </a:solidFill>
                <a:latin typeface="Calibri"/>
              </a:defRPr>
            </a:pPr>
            <a:r>
              <a:t>Delivery Performance Audit for Veridi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C"/>
                </a:solidFill>
                <a:latin typeface="Calibri"/>
              </a:defRPr>
            </a:pPr>
            <a:r>
              <a:t>Dataset: Olist Brazilian E-Commerce  |  84,432 Orders  |  2016-2018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C"/>
                </a:solidFill>
                <a:latin typeface="Calibri"/>
              </a:defRPr>
            </a:pPr>
            <a:r>
              <a:t>Built with Python  ·  Pandas  ·  Plotly  ·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84,432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C"/>
                </a:solidFill>
                <a:latin typeface="Calibri"/>
              </a:defRPr>
            </a:pPr>
            <a:r>
              <a:t>Total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CB77"/>
                </a:solidFill>
                <a:latin typeface="Calibri"/>
              </a:defRPr>
            </a:pPr>
            <a:r>
              <a:t>91.8%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C"/>
                </a:solidFill>
                <a:latin typeface="Calibri"/>
              </a:defRPr>
            </a:pPr>
            <a:r>
              <a:t>On-Time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Calibri"/>
              </a:defRPr>
            </a:pPr>
            <a:r>
              <a:t>8.2%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C"/>
                </a:solidFill>
                <a:latin typeface="Calibri"/>
              </a:defRPr>
            </a:pPr>
            <a:r>
              <a:t>Late / Super 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3716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  <a:latin typeface="Calibri"/>
              </a:defRPr>
            </a:pPr>
            <a:r>
              <a:t>+10.9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C"/>
                </a:solidFill>
                <a:latin typeface="Calibri"/>
              </a:defRPr>
            </a:pPr>
            <a:r>
              <a:t>Avg Days 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3716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93D"/>
                </a:solidFill>
                <a:latin typeface="Calibri"/>
              </a:defRPr>
            </a:pPr>
            <a:r>
              <a:t>4.15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C"/>
                </a:solidFill>
                <a:latin typeface="Calibri"/>
              </a:defRPr>
            </a:pPr>
            <a:r>
              <a:t>Avg Review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~8% of delivered orders arrive late, with Super Late orders averaging 3+ weeks overdue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Northern/Northeastern states (AL, MA, PI) have the worst late delivery rates (15-20%)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Late deliveries directly correlate with poor reviews: On-Time = 4.2★, Late = 3.4★, Super Late = 1.3★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Late delivery spike of ~21% occurred in early 2018, suggesting seasonal logistics strain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Product categories like electronics and furniture have higher late rates than average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Data Schema &amp;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4754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Schema Builder (Story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•  Loaded 6 CSV files from the Olist dataset</a:t>
            </a:r>
            <a:br/>
            <a:r>
              <a:t>•  Master table joins:</a:t>
            </a:r>
            <a:br/>
            <a:r>
              <a:t>     Orders → Customers (on customer_id)</a:t>
            </a:r>
            <a:br/>
            <a:r>
              <a:t>     Orders → Reviews (on order_id, deduplicated)</a:t>
            </a:r>
            <a:br/>
            <a:r>
              <a:t>     Orders → Items → Products (on order_id, product_id)</a:t>
            </a:r>
            <a:br/>
            <a:r>
              <a:t>•  Final master table: 84,432 rows × 16 columns</a:t>
            </a:r>
            <a:br/>
            <a:r>
              <a:t>•  Assertion: row count preserved after joins</a:t>
            </a:r>
            <a:br/>
            <a:r>
              <a:t>•  Datetime columns parsed for time calculations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Delay Calculator (Story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•  Days_Difference = estimated − actual delivery date</a:t>
            </a:r>
            <a:br/>
            <a:r>
              <a:t>•  Positive = early, Negative = late</a:t>
            </a:r>
            <a:br/>
            <a:br/>
            <a:r>
              <a:t>Classification Logic:</a:t>
            </a:r>
            <a:br/>
            <a:r>
              <a:t>     • On Time: Days_Difference ≥ 0</a:t>
            </a:r>
            <a:br/>
            <a:r>
              <a:t>     • Late: −7 ≤ Days_Difference &lt; 0</a:t>
            </a:r>
            <a:br/>
            <a:r>
              <a:t>     • Super Late: Days_Difference &lt; −7</a:t>
            </a:r>
            <a:br/>
            <a:br/>
            <a:r>
              <a:t>Results:</a:t>
            </a:r>
            <a:br/>
            <a:r>
              <a:t>     • On Time:    77,364  (91.8%)</a:t>
            </a:r>
            <a:br/>
            <a:r>
              <a:t>     • Late:        5,159  (6.1%)</a:t>
            </a:r>
            <a:br/>
            <a:r>
              <a:t>     • Super Late:  1,748  (2.1%)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Geographic Analysis — Late Deliveries by State</a:t>
            </a:r>
          </a:p>
        </p:txBody>
      </p:sp>
      <p:pic>
        <p:nvPicPr>
          <p:cNvPr id="3" name="Picture 2" descr="late_deliveries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280160"/>
            <a:ext cx="41148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•  Northern states have 2-3x</a:t>
            </a:r>
            <a:br/>
            <a:r>
              <a:t>   higher late delivery rates</a:t>
            </a:r>
            <a:br/>
            <a:r>
              <a:t>   than the national average</a:t>
            </a:r>
            <a:br/>
            <a:br/>
            <a:r>
              <a:t>•  Worst performers:</a:t>
            </a:r>
            <a:br/>
            <a:r>
              <a:t>   • Alagoas (AL): ~20%</a:t>
            </a:r>
            <a:br/>
            <a:r>
              <a:t>   • Maranhão (MA): ~18%</a:t>
            </a:r>
            <a:br/>
            <a:r>
              <a:t>   • Piauí (PI): ~17%</a:t>
            </a:r>
            <a:br/>
            <a:br/>
            <a:r>
              <a:t>•  Best performers:</a:t>
            </a:r>
            <a:br/>
            <a:r>
              <a:t>   • São Paulo (SP): ~6%</a:t>
            </a:r>
            <a:br/>
            <a:r>
              <a:t>   • Paraná (PR): ~6%</a:t>
            </a:r>
            <a:br/>
            <a:br/>
            <a:r>
              <a:t>•  Suggests infrastructure and</a:t>
            </a:r>
            <a:br/>
            <a:r>
              <a:t>   distance from logistics hubs</a:t>
            </a:r>
            <a:br/>
            <a:r>
              <a:t>   drive delivery failures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Sentiment vs. Delivery Performance</a:t>
            </a:r>
          </a:p>
        </p:txBody>
      </p:sp>
      <p:pic>
        <p:nvPicPr>
          <p:cNvPr id="3" name="Picture 2" descr="sentiment_vs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280160"/>
            <a:ext cx="41148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•  Clear inverse correlation</a:t>
            </a:r>
            <a:br/>
            <a:r>
              <a:t>   between delay and satisfaction</a:t>
            </a:r>
            <a:br/>
            <a:br/>
            <a:r>
              <a:t>   On Time:     4.24 ★</a:t>
            </a:r>
            <a:br/>
            <a:r>
              <a:t>   Late:          3.39 ★</a:t>
            </a:r>
            <a:br/>
            <a:r>
              <a:t>   Super Late:  1.34 ★</a:t>
            </a:r>
            <a:br/>
            <a:br/>
            <a:r>
              <a:t>•  Super Late orders receive</a:t>
            </a:r>
            <a:br/>
            <a:r>
              <a:t>   68% fewer stars than On Time</a:t>
            </a:r>
            <a:br/>
            <a:br/>
            <a:r>
              <a:t>•  Even small delays (≤1 week)</a:t>
            </a:r>
            <a:br/>
            <a:r>
              <a:t>   drop scores by ~0.8 stars</a:t>
            </a:r>
            <a:br/>
            <a:br/>
            <a:r>
              <a:t>•  Business impact: Each late</a:t>
            </a:r>
            <a:br/>
            <a:r>
              <a:t>   delivery risks losing a</a:t>
            </a:r>
            <a:br/>
            <a:r>
              <a:t>   repeat customer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Product Category Performance — Candidate's Choice</a:t>
            </a:r>
          </a:p>
        </p:txBody>
      </p:sp>
      <p:pic>
        <p:nvPicPr>
          <p:cNvPr id="3" name="Picture 2" descr="category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280160"/>
            <a:ext cx="41148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Analysis:</a:t>
            </a:r>
            <a:br/>
            <a:r>
              <a:t>•  Joined order_items + products</a:t>
            </a:r>
            <a:br/>
            <a:r>
              <a:t>   + category translations</a:t>
            </a:r>
            <a:br/>
            <a:r>
              <a:t>•  Computed per-category:</a:t>
            </a:r>
            <a:br/>
            <a:r>
              <a:t>   late %, avg delay, avg review</a:t>
            </a:r>
            <a:br/>
            <a:br/>
            <a:r>
              <a:t>Insights:</a:t>
            </a:r>
            <a:br/>
            <a:r>
              <a:t>•  Electronics &amp; furniture have</a:t>
            </a:r>
            <a:br/>
            <a:r>
              <a:t>   highest late delivery rates</a:t>
            </a:r>
            <a:br/>
            <a:r>
              <a:t>•  Categories with bulky items</a:t>
            </a:r>
            <a:br/>
            <a:r>
              <a:t>   suffer more logistics delays</a:t>
            </a:r>
            <a:br/>
            <a:r>
              <a:t>•  Lightweight items (stationery,</a:t>
            </a:r>
            <a:br/>
            <a:r>
              <a:t>   fashion accessories) perform</a:t>
            </a:r>
            <a:br/>
            <a:r>
              <a:t>   best on delivery timelines</a:t>
            </a:r>
            <a:br/>
            <a:br/>
            <a:r>
              <a:t>Action: Prioritize fulfillment</a:t>
            </a:r>
            <a:br/>
            <a:r>
              <a:t>optimization for high-delay</a:t>
            </a:r>
            <a:br/>
            <a:r>
              <a:t>product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Expand Regional Logistics Hubs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Open distribution centers in the North/Northeast (AL, MA, PI) to reduce transit times by 40-60%.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1277295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Prioritize Bulky Product Fulfillment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Electronics and furniture have the highest delay rates. Implement category-specific SLAs and packaging protocols.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11277295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29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Seasonal Capacity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947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Late delivery rates spiked to 21% in Q1 2018. Pre-scale carrier capacity for predictable demand surges.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34840"/>
            <a:ext cx="11277295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Customer Recovery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463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Super Late orders get 1.3-star reviews. Implement proactive alerts + compensation for delays &gt;7 days to recover NPS.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77295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[5]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32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Real-Time Monitoring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8978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Deploy the Streamlit dashboard for operations teams to track KPIs and identify at-risk shipments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8CC"/>
                </a:solidFill>
                <a:latin typeface="Calibri"/>
              </a:defRPr>
            </a:pPr>
            <a:r>
              <a:t>Questions? Let’s discuss the findings.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33295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C"/>
                </a:solidFill>
                <a:latin typeface="Calibri"/>
              </a:defRPr>
            </a:pPr>
            <a:r>
              <a:t>Notebook: logistics_auditor.ipynb  |  Dashboard: dashboard.py</a:t>
            </a:r>
            <a:br/>
            <a:r>
              <a:t>Full HTML Report: logistics_auditor.html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